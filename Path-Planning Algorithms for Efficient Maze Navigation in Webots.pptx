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60" r:id="rId5"/>
    <p:sldId id="264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8" d="100"/>
          <a:sy n="98" d="100"/>
        </p:scale>
        <p:origin x="587" y="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348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60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43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36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962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54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21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0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96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72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8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91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An endless white maze">
            <a:extLst>
              <a:ext uri="{FF2B5EF4-FFF2-40B4-BE49-F238E27FC236}">
                <a16:creationId xmlns:a16="http://schemas.microsoft.com/office/drawing/2014/main" id="{A42E7902-F8BF-1A37-2EEF-156BC4B8CB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61" t="9091" r="55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30F86-DF3D-F734-6E1C-A372ACCBF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02710"/>
            <a:ext cx="7983068" cy="974347"/>
          </a:xfrm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Path-Planning Algorithms for Efficient Maze Navigation in Webots</a:t>
            </a:r>
            <a:endParaRPr lang="pt-PT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C145A2-49B9-4C2A-053F-E6AA785BD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3108" y="5702710"/>
            <a:ext cx="3633535" cy="974347"/>
          </a:xfrm>
        </p:spPr>
        <p:txBody>
          <a:bodyPr anchor="ctr">
            <a:normAutofit/>
          </a:bodyPr>
          <a:lstStyle/>
          <a:p>
            <a:pPr algn="r"/>
            <a:r>
              <a:rPr lang="pt-PT" sz="1700" dirty="0"/>
              <a:t>José Guilherme Marques dos Santos</a:t>
            </a:r>
          </a:p>
          <a:p>
            <a:pPr algn="r"/>
            <a:r>
              <a:rPr lang="pt-PT" sz="1700" dirty="0"/>
              <a:t>202208081</a:t>
            </a:r>
          </a:p>
        </p:txBody>
      </p:sp>
    </p:spTree>
    <p:extLst>
      <p:ext uri="{BB962C8B-B14F-4D97-AF65-F5344CB8AC3E}">
        <p14:creationId xmlns:p14="http://schemas.microsoft.com/office/powerpoint/2010/main" val="3245148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Cubes connected with a red line">
            <a:extLst>
              <a:ext uri="{FF2B5EF4-FFF2-40B4-BE49-F238E27FC236}">
                <a16:creationId xmlns:a16="http://schemas.microsoft.com/office/drawing/2014/main" id="{BC0EB45B-B4E0-B757-6196-BDB1133F0E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35" r="18105" b="-1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40A7107-9463-2CCD-142D-91E1E682A42B}"/>
              </a:ext>
            </a:extLst>
          </p:cNvPr>
          <p:cNvSpPr txBox="1"/>
          <p:nvPr/>
        </p:nvSpPr>
        <p:spPr>
          <a:xfrm>
            <a:off x="5248656" y="1770369"/>
            <a:ext cx="6647422" cy="4516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Implement three path-planning algorithms (A*, D* Lite, RRT) within the Webots simulator to enable direct comparison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Generate and navigate random grid mazes of varying sizes (3×3 to 10×10 cells) and dead-end complexities (clusters of 1, 5, and 10 cells) to test each planner under controlled conditions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Measure four key performance metrics for each algorithm:</a:t>
            </a:r>
          </a:p>
          <a:p>
            <a:pPr marL="74295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Graph-construction time</a:t>
            </a:r>
          </a:p>
          <a:p>
            <a:pPr marL="74295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Path-planning time</a:t>
            </a:r>
          </a:p>
          <a:p>
            <a:pPr marL="74295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Traversal time (at 0.2 m/s)</a:t>
            </a:r>
          </a:p>
          <a:p>
            <a:pPr marL="74295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Path length (in discrete steps)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Analyze trade-offs between computational overhead and path efficiency, providing recommendations for the selection of planners for different application scenarios (static vs. dynamic, time-critical vs. optimal routes)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E73A66-E979-3C4E-AF99-4EADCD460CB6}"/>
              </a:ext>
            </a:extLst>
          </p:cNvPr>
          <p:cNvSpPr txBox="1"/>
          <p:nvPr/>
        </p:nvSpPr>
        <p:spPr>
          <a:xfrm>
            <a:off x="5346871" y="975393"/>
            <a:ext cx="614324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b="1" dirty="0">
                <a:latin typeface="Univers Condensed (Headings)"/>
              </a:rPr>
              <a:t>Summary of the goals of the work</a:t>
            </a:r>
          </a:p>
          <a:p>
            <a:pPr>
              <a:spcAft>
                <a:spcPts val="600"/>
              </a:spcAft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63182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A352AD-495E-D9BA-908C-2D74B42F6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373116-CE9B-F8F9-FDFD-F12676787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FEDB317-3838-4F35-E12C-8B6E98D5E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C5C3526-634E-BC3D-2083-8EAC9995F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Cubes connected with a red line">
            <a:extLst>
              <a:ext uri="{FF2B5EF4-FFF2-40B4-BE49-F238E27FC236}">
                <a16:creationId xmlns:a16="http://schemas.microsoft.com/office/drawing/2014/main" id="{E71F3EB2-B6DA-2216-2E59-3B5376848F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35" r="18105" b="-1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A84D1B-1D16-1C7A-0BA8-3284CC36E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04DDDED-E46F-0A5C-0596-713B3617E169}"/>
              </a:ext>
            </a:extLst>
          </p:cNvPr>
          <p:cNvSpPr txBox="1"/>
          <p:nvPr/>
        </p:nvSpPr>
        <p:spPr>
          <a:xfrm>
            <a:off x="5248656" y="1770369"/>
            <a:ext cx="6647422" cy="45161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Univers Condensed (Body)"/>
              </a:rPr>
              <a:t>Critical role of autonomous navigation</a:t>
            </a:r>
          </a:p>
          <a:p>
            <a:pPr marL="80010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Autonomous robots must compute collision-free trajectories to traverse diverse environments (e.g., driving automation, planetary exploration).</a:t>
            </a:r>
          </a:p>
          <a:p>
            <a:pPr marL="34290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Univers Condensed (Body)"/>
              </a:rPr>
              <a:t>Real-world demands on performance</a:t>
            </a:r>
          </a:p>
          <a:p>
            <a:pPr marL="80010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Time-critical applications (e.g., search-and-rescue, congested driving) need rapid adaptation to changing terrains and dynamic obstacles.</a:t>
            </a:r>
          </a:p>
          <a:p>
            <a:pPr marL="80010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Algorithms with high computational overhead may be unsuitable despite optimal paths; faster but suboptimal routes may lead to wasted energy and hardware wear. </a:t>
            </a:r>
          </a:p>
          <a:p>
            <a:pPr marL="34290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Univers Condensed (Body)"/>
              </a:rPr>
              <a:t>Lack of comprehensive empirical data</a:t>
            </a:r>
          </a:p>
          <a:p>
            <a:pPr marL="80010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Existing benchmarks often focus on either planning efficiency or path quality, but not both across varied scenarios.</a:t>
            </a:r>
          </a:p>
          <a:p>
            <a:pPr marL="80010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A systematic evaluation is needed to map trade-offs between graph construction time, planning time, traversal time, and path optimality under controlled conditions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2621F8-F411-7A2B-688C-71ADE4A606B5}"/>
              </a:ext>
            </a:extLst>
          </p:cNvPr>
          <p:cNvSpPr txBox="1"/>
          <p:nvPr/>
        </p:nvSpPr>
        <p:spPr>
          <a:xfrm>
            <a:off x="5346871" y="975393"/>
            <a:ext cx="6143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b="1" dirty="0">
                <a:latin typeface="Univers Condensed (Headings)"/>
              </a:rPr>
              <a:t>Motivation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90095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63D08F-DB58-FD82-279F-CC7F241F2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E1667AB-2DE0-4EB6-D2BC-3E051A99B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C6A5668-F0A2-CB5B-E617-75818A763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1CC4731-5403-BF21-AF4B-3D00386B1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Cubes connected with a red line">
            <a:extLst>
              <a:ext uri="{FF2B5EF4-FFF2-40B4-BE49-F238E27FC236}">
                <a16:creationId xmlns:a16="http://schemas.microsoft.com/office/drawing/2014/main" id="{71CF7A19-1349-CC69-2BD2-88B14BC778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35" r="18105" b="-1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A6CA1F4-174A-9181-8856-78A5A17E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38CF1A9-1970-C4CB-5C50-9D2E2B02D190}"/>
              </a:ext>
            </a:extLst>
          </p:cNvPr>
          <p:cNvSpPr txBox="1"/>
          <p:nvPr/>
        </p:nvSpPr>
        <p:spPr>
          <a:xfrm>
            <a:off x="5248656" y="1770369"/>
            <a:ext cx="6647422" cy="45161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Univers Condensed (Body)"/>
              </a:rPr>
              <a:t>Maze Generation:</a:t>
            </a:r>
            <a:br>
              <a:rPr lang="en-US" sz="2000" dirty="0">
                <a:latin typeface="Univers Condensed (Body)"/>
              </a:rPr>
            </a:br>
            <a:r>
              <a:rPr lang="en-US" sz="2000" dirty="0">
                <a:latin typeface="Univers Condensed (Body)"/>
              </a:rPr>
              <a:t>Parameters:</a:t>
            </a:r>
          </a:p>
          <a:p>
            <a:pPr marL="80010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Grid dimensions (width × height in cells)</a:t>
            </a:r>
          </a:p>
          <a:p>
            <a:pPr marL="80010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Output image size (pixels)</a:t>
            </a:r>
          </a:p>
          <a:p>
            <a:pPr marL="80010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Dead-end length index (1-10, higher = more loops)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67D38D-805E-A3A4-D60B-74E119BC37D0}"/>
              </a:ext>
            </a:extLst>
          </p:cNvPr>
          <p:cNvSpPr txBox="1"/>
          <p:nvPr/>
        </p:nvSpPr>
        <p:spPr>
          <a:xfrm>
            <a:off x="5346871" y="975393"/>
            <a:ext cx="6143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b="1" dirty="0">
                <a:latin typeface="Univers Condensed (Headings)"/>
              </a:rPr>
              <a:t>Approach to solve the problem</a:t>
            </a:r>
          </a:p>
        </p:txBody>
      </p:sp>
      <p:pic>
        <p:nvPicPr>
          <p:cNvPr id="4" name="Picture 3" descr="A maze with lines in the middle&#10;&#10;AI-generated content may be incorrect.">
            <a:extLst>
              <a:ext uri="{FF2B5EF4-FFF2-40B4-BE49-F238E27FC236}">
                <a16:creationId xmlns:a16="http://schemas.microsoft.com/office/drawing/2014/main" id="{434BBCCC-22F9-AF5F-2EC9-BB5967F8D4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167" y="3639782"/>
            <a:ext cx="2683167" cy="2683167"/>
          </a:xfrm>
          <a:prstGeom prst="rect">
            <a:avLst/>
          </a:prstGeom>
        </p:spPr>
      </p:pic>
      <p:pic>
        <p:nvPicPr>
          <p:cNvPr id="6" name="Picture 5" descr="A maze with many lines&#10;&#10;AI-generated content may be incorrect.">
            <a:extLst>
              <a:ext uri="{FF2B5EF4-FFF2-40B4-BE49-F238E27FC236}">
                <a16:creationId xmlns:a16="http://schemas.microsoft.com/office/drawing/2014/main" id="{E37A1A83-8A1D-C86F-AA47-FF6C8D01A0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061" y="3639782"/>
            <a:ext cx="2683167" cy="26831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36AC4C-D698-F0AE-9B7A-D35C4D6A5187}"/>
              </a:ext>
            </a:extLst>
          </p:cNvPr>
          <p:cNvSpPr txBox="1"/>
          <p:nvPr/>
        </p:nvSpPr>
        <p:spPr>
          <a:xfrm>
            <a:off x="5538610" y="6426642"/>
            <a:ext cx="25922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10×10 maze with dead-end length index 1</a:t>
            </a:r>
            <a:endParaRPr lang="pt-PT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EBC77B-4F9D-852A-FD9E-0DA83406E45C}"/>
              </a:ext>
            </a:extLst>
          </p:cNvPr>
          <p:cNvSpPr txBox="1"/>
          <p:nvPr/>
        </p:nvSpPr>
        <p:spPr>
          <a:xfrm>
            <a:off x="9023816" y="6426642"/>
            <a:ext cx="26831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10×10 maze with dead-end length index 10</a:t>
            </a:r>
            <a:endParaRPr lang="pt-PT" sz="1050" dirty="0"/>
          </a:p>
        </p:txBody>
      </p:sp>
    </p:spTree>
    <p:extLst>
      <p:ext uri="{BB962C8B-B14F-4D97-AF65-F5344CB8AC3E}">
        <p14:creationId xmlns:p14="http://schemas.microsoft.com/office/powerpoint/2010/main" val="1380801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37296A-EF56-2428-3B61-FF60A4946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460959D-1B75-2390-7BB3-3C6160495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48B3EBA-9120-A805-F98C-32EC57E49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34E0E2C-FB09-AC4C-5566-745CF6B07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Cubes connected with a red line">
            <a:extLst>
              <a:ext uri="{FF2B5EF4-FFF2-40B4-BE49-F238E27FC236}">
                <a16:creationId xmlns:a16="http://schemas.microsoft.com/office/drawing/2014/main" id="{5C8D1EB2-D550-865A-019A-839D1ECE23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35" r="18105" b="-1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A758DBA-A8F3-D913-B615-CD5E3DCEA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4B2E4C0-CFF9-BDAF-6B37-6F0F647B3627}"/>
              </a:ext>
            </a:extLst>
          </p:cNvPr>
          <p:cNvSpPr txBox="1"/>
          <p:nvPr/>
        </p:nvSpPr>
        <p:spPr>
          <a:xfrm>
            <a:off x="5248656" y="1770369"/>
            <a:ext cx="6647422" cy="45161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40005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Univers Condensed (Body)"/>
              </a:rPr>
              <a:t>Algorithms:</a:t>
            </a:r>
          </a:p>
          <a:p>
            <a:pPr marL="971550" lvl="1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>
                <a:latin typeface="Univers Condensed (Body)"/>
              </a:rPr>
              <a:t>A*</a:t>
            </a:r>
          </a:p>
          <a:p>
            <a:pPr marL="1428750" lvl="2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Builds full grid graph</a:t>
            </a:r>
          </a:p>
          <a:p>
            <a:pPr marL="1428750" lvl="2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Heuristic: Euclidean distance to goal</a:t>
            </a:r>
          </a:p>
          <a:p>
            <a:pPr marL="1428750" lvl="2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Expands lowest-cost node until goal reached</a:t>
            </a:r>
          </a:p>
          <a:p>
            <a:pPr marL="857250" lvl="1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>
                <a:latin typeface="Univers Condensed (Body)"/>
              </a:rPr>
              <a:t>D* Lite</a:t>
            </a:r>
          </a:p>
          <a:p>
            <a:pPr marL="131445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Incremental repair of A*-style graph when costs change</a:t>
            </a:r>
          </a:p>
          <a:p>
            <a:pPr marL="131445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Maintains g- and </a:t>
            </a:r>
            <a:r>
              <a:rPr lang="en-US" sz="1400" dirty="0" err="1">
                <a:latin typeface="Univers Condensed (Body)"/>
              </a:rPr>
              <a:t>rhs</a:t>
            </a:r>
            <a:r>
              <a:rPr lang="en-US" sz="1400" dirty="0">
                <a:latin typeface="Univers Condensed (Body)"/>
              </a:rPr>
              <a:t>-values per node</a:t>
            </a:r>
          </a:p>
          <a:p>
            <a:pPr marL="131445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Propagates cost updates only where needed</a:t>
            </a:r>
          </a:p>
          <a:p>
            <a:pPr marL="857250" lvl="1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>
                <a:latin typeface="Univers Condensed (Body)"/>
              </a:rPr>
              <a:t>RRT</a:t>
            </a:r>
          </a:p>
          <a:p>
            <a:pPr marL="131445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Initializes tree at start</a:t>
            </a:r>
          </a:p>
          <a:p>
            <a:pPr marL="131445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Loop: sample point → nearest tree node → “steer” by fixed step</a:t>
            </a:r>
          </a:p>
          <a:p>
            <a:pPr marL="131445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Add collision-free nodes</a:t>
            </a:r>
            <a:br>
              <a:rPr lang="en-US" sz="1400" dirty="0">
                <a:latin typeface="Univers Condensed (Body)"/>
              </a:rPr>
            </a:br>
            <a:endParaRPr lang="en-US" sz="1050" dirty="0">
              <a:latin typeface="Univers Condensed (Body)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31263-A444-68A7-479D-78242770360C}"/>
              </a:ext>
            </a:extLst>
          </p:cNvPr>
          <p:cNvSpPr txBox="1"/>
          <p:nvPr/>
        </p:nvSpPr>
        <p:spPr>
          <a:xfrm>
            <a:off x="5346871" y="975393"/>
            <a:ext cx="6143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b="1" dirty="0">
                <a:latin typeface="Univers Condensed (Headings)"/>
              </a:rPr>
              <a:t>Approach to solve the problem</a:t>
            </a:r>
          </a:p>
        </p:txBody>
      </p:sp>
    </p:spTree>
    <p:extLst>
      <p:ext uri="{BB962C8B-B14F-4D97-AF65-F5344CB8AC3E}">
        <p14:creationId xmlns:p14="http://schemas.microsoft.com/office/powerpoint/2010/main" val="1624458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0A1F05-BBDA-477C-0660-012075416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0AFEE6C-7824-880F-1119-1FD8CC324A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F4EEC6-70D6-FEBF-F96A-F5991B1B0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07FAD08-0F88-B224-D70D-AB18D6D1F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Cubes connected with a red line">
            <a:extLst>
              <a:ext uri="{FF2B5EF4-FFF2-40B4-BE49-F238E27FC236}">
                <a16:creationId xmlns:a16="http://schemas.microsoft.com/office/drawing/2014/main" id="{64B23892-B647-BAF7-6D16-7F4A7E8068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35" r="18105" b="-1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BB08E80-5DF5-1D50-9BBD-09D5AA3C0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7EF5581-C266-7414-CE1E-03082C37AC5B}"/>
              </a:ext>
            </a:extLst>
          </p:cNvPr>
          <p:cNvSpPr txBox="1"/>
          <p:nvPr/>
        </p:nvSpPr>
        <p:spPr>
          <a:xfrm>
            <a:off x="5248656" y="1770369"/>
            <a:ext cx="6647422" cy="45161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Univers Condensed (Body)"/>
              </a:rPr>
              <a:t>Maze Parameters used:</a:t>
            </a:r>
            <a:endParaRPr lang="en-US" sz="2000" b="1" dirty="0">
              <a:latin typeface="Univers Condensed (Body)"/>
            </a:endParaRPr>
          </a:p>
          <a:p>
            <a:pPr marL="80010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latin typeface="Univers Condensed (Body)"/>
              </a:rPr>
              <a:t>Grid dimensions:</a:t>
            </a:r>
            <a:r>
              <a:rPr lang="en-US" sz="1400" dirty="0">
                <a:latin typeface="Univers Condensed (Body)"/>
              </a:rPr>
              <a:t> 3x3, 5x5, 8x8, 10x10</a:t>
            </a:r>
          </a:p>
          <a:p>
            <a:pPr marL="80010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latin typeface="Univers Condensed (Body)"/>
              </a:rPr>
              <a:t>Dead-end length index: </a:t>
            </a:r>
            <a:r>
              <a:rPr lang="en-US" sz="1400" dirty="0">
                <a:latin typeface="Univers Condensed (Body)"/>
              </a:rPr>
              <a:t>1, 5, 10 for each grid dimension</a:t>
            </a:r>
          </a:p>
          <a:p>
            <a:pPr marL="80010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10 independently generated mazes per size–index combination</a:t>
            </a:r>
          </a:p>
          <a:p>
            <a:pPr marL="80010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Univers Condensed (Body)"/>
            </a:endParaRPr>
          </a:p>
          <a:p>
            <a:pPr marL="514350" lvl="1">
              <a:spcAft>
                <a:spcPts val="600"/>
              </a:spcAft>
            </a:pPr>
            <a:endParaRPr lang="en-US" sz="1400" dirty="0">
              <a:latin typeface="Univers Condensed (Body)"/>
            </a:endParaRPr>
          </a:p>
          <a:p>
            <a:pPr marL="34290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Univers Condensed (Body)"/>
              </a:rPr>
              <a:t>Evaluation Metrics:</a:t>
            </a:r>
          </a:p>
          <a:p>
            <a:pPr marL="80010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latin typeface="Univers Condensed (Body)"/>
              </a:rPr>
              <a:t>Graph-construction time: </a:t>
            </a:r>
            <a:r>
              <a:rPr lang="en-US" sz="1400" dirty="0">
                <a:latin typeface="Univers Condensed (Body)"/>
              </a:rPr>
              <a:t>Time to build grid graph or tree structure</a:t>
            </a:r>
          </a:p>
          <a:p>
            <a:pPr marL="80010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latin typeface="Univers Condensed (Body)"/>
              </a:rPr>
              <a:t>Planning time: </a:t>
            </a:r>
            <a:r>
              <a:rPr lang="en-US" sz="1400" dirty="0">
                <a:latin typeface="Univers Condensed (Body)"/>
              </a:rPr>
              <a:t>Time to compute a complete collision-free path</a:t>
            </a:r>
          </a:p>
          <a:p>
            <a:pPr marL="80010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latin typeface="Univers Condensed (Body)"/>
              </a:rPr>
              <a:t>Traversal time: </a:t>
            </a:r>
            <a:r>
              <a:rPr lang="en-US" sz="1400" dirty="0">
                <a:latin typeface="Univers Condensed (Body)"/>
              </a:rPr>
              <a:t>Time for the E-puck to physically follow the path at 0.2 m/s</a:t>
            </a:r>
          </a:p>
          <a:p>
            <a:pPr marL="80010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latin typeface="Univers Condensed (Body)"/>
              </a:rPr>
              <a:t>Path length: </a:t>
            </a:r>
            <a:r>
              <a:rPr lang="en-US" sz="1400" dirty="0">
                <a:latin typeface="Univers Condensed (Body)"/>
              </a:rPr>
              <a:t>Number of discrete steps from entrance to exit </a:t>
            </a:r>
          </a:p>
          <a:p>
            <a:pPr marL="80010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Univers Condensed (Body)"/>
            </a:endParaRPr>
          </a:p>
          <a:p>
            <a:pPr marL="80010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Univers Condensed (Body)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A00EFF-3F73-1DB5-D265-AFCAD0D1DFA2}"/>
              </a:ext>
            </a:extLst>
          </p:cNvPr>
          <p:cNvSpPr txBox="1"/>
          <p:nvPr/>
        </p:nvSpPr>
        <p:spPr>
          <a:xfrm>
            <a:off x="5346871" y="975393"/>
            <a:ext cx="6143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b="1" dirty="0">
                <a:latin typeface="Univers Condensed (Headings)"/>
              </a:rPr>
              <a:t>Experiments conducted </a:t>
            </a:r>
          </a:p>
        </p:txBody>
      </p:sp>
    </p:spTree>
    <p:extLst>
      <p:ext uri="{BB962C8B-B14F-4D97-AF65-F5344CB8AC3E}">
        <p14:creationId xmlns:p14="http://schemas.microsoft.com/office/powerpoint/2010/main" val="2305711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72BEA-6A8C-6D36-C31E-81536B0B3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C4F7237-C481-9F3B-4D48-56278070A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D0666A1-66B5-602F-CEAD-C84020A6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664D62F-B75B-80C6-01F4-64CBACC2C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263C413-8F52-9AEE-C3B4-387A77FE3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ADCB9BF-D689-E284-368A-C0E6E67FA5C9}"/>
              </a:ext>
            </a:extLst>
          </p:cNvPr>
          <p:cNvSpPr txBox="1"/>
          <p:nvPr/>
        </p:nvSpPr>
        <p:spPr>
          <a:xfrm>
            <a:off x="5346871" y="975393"/>
            <a:ext cx="6143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b="1" dirty="0">
                <a:latin typeface="Univers Condensed (Headings)"/>
              </a:rPr>
              <a:t>Discussion of the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95AA9A-12DB-DA4C-F90E-328349D46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8" y="13648"/>
            <a:ext cx="4714043" cy="68621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802F02-FFCE-9969-EC2C-46E49E039277}"/>
              </a:ext>
            </a:extLst>
          </p:cNvPr>
          <p:cNvSpPr txBox="1"/>
          <p:nvPr/>
        </p:nvSpPr>
        <p:spPr>
          <a:xfrm>
            <a:off x="5248656" y="1770369"/>
            <a:ext cx="6647422" cy="45161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>
                <a:latin typeface="Univers Condensed (Body)"/>
              </a:rPr>
              <a:t>A*</a:t>
            </a:r>
          </a:p>
          <a:p>
            <a:pPr marL="97155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Delivers the fastest path‐planning durations (0.001–0.025 s)</a:t>
            </a:r>
          </a:p>
          <a:p>
            <a:pPr marL="97155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Most optimal path in term of grid-based methods</a:t>
            </a:r>
          </a:p>
          <a:p>
            <a:pPr marL="514350" lvl="1">
              <a:spcAft>
                <a:spcPts val="600"/>
              </a:spcAft>
            </a:pPr>
            <a:endParaRPr lang="en-US" sz="1400" dirty="0">
              <a:latin typeface="Univers Condensed (Body)"/>
            </a:endParaRPr>
          </a:p>
          <a:p>
            <a:pPr marL="40005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>
                <a:latin typeface="Univers Condensed (Body)"/>
              </a:rPr>
              <a:t>D* Lite</a:t>
            </a:r>
          </a:p>
          <a:p>
            <a:pPr marL="85725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 Slightly higher preprocessing costs </a:t>
            </a:r>
          </a:p>
          <a:p>
            <a:pPr marL="85725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 	Traversal performance similar to A*</a:t>
            </a:r>
          </a:p>
          <a:p>
            <a:pPr marL="514350" lvl="1">
              <a:spcAft>
                <a:spcPts val="600"/>
              </a:spcAft>
            </a:pPr>
            <a:endParaRPr lang="en-US" sz="1400" dirty="0">
              <a:latin typeface="Univers Condensed (Body)"/>
            </a:endParaRPr>
          </a:p>
          <a:p>
            <a:pPr marL="51435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>
                <a:latin typeface="Univers Condensed (Body)"/>
              </a:rPr>
              <a:t>RRT</a:t>
            </a:r>
          </a:p>
          <a:p>
            <a:pPr marL="85725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Constructs its search structure almost instantaneously</a:t>
            </a:r>
          </a:p>
          <a:p>
            <a:pPr marL="85725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Compact trajectories that minimize end-to-end traversal time</a:t>
            </a:r>
          </a:p>
        </p:txBody>
      </p:sp>
    </p:spTree>
    <p:extLst>
      <p:ext uri="{BB962C8B-B14F-4D97-AF65-F5344CB8AC3E}">
        <p14:creationId xmlns:p14="http://schemas.microsoft.com/office/powerpoint/2010/main" val="194411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E7A607-8ED5-0A4F-044D-DBCA045DD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6F22EC5-1C15-5453-C5B8-B43586FFD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3AC8499-A939-5C3E-0835-71CFD1845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EB63E13-E600-E0B8-C0B4-EF8E07592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Cubes connected with a red line">
            <a:extLst>
              <a:ext uri="{FF2B5EF4-FFF2-40B4-BE49-F238E27FC236}">
                <a16:creationId xmlns:a16="http://schemas.microsoft.com/office/drawing/2014/main" id="{8A43C6C4-8B08-AADD-9AC1-7181FB347E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35" r="18105" b="-1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B720AE8-1BAE-3C0B-14B2-3742CB65F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3793C90-CF77-3F45-D085-E6E506D9E545}"/>
              </a:ext>
            </a:extLst>
          </p:cNvPr>
          <p:cNvSpPr txBox="1"/>
          <p:nvPr/>
        </p:nvSpPr>
        <p:spPr>
          <a:xfrm>
            <a:off x="5346871" y="975393"/>
            <a:ext cx="6143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b="1" dirty="0">
                <a:latin typeface="Univers Condensed (Headings)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9B14E-EE8D-24ED-C84A-AAEBF8DBA313}"/>
              </a:ext>
            </a:extLst>
          </p:cNvPr>
          <p:cNvSpPr txBox="1"/>
          <p:nvPr/>
        </p:nvSpPr>
        <p:spPr>
          <a:xfrm>
            <a:off x="5248656" y="1770369"/>
            <a:ext cx="6647422" cy="45161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>
                <a:latin typeface="Univers Condensed (Body)"/>
              </a:rPr>
              <a:t>A*</a:t>
            </a:r>
          </a:p>
          <a:p>
            <a:pPr marL="97155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Performance degrades on larger mazes due to expensive graph construction</a:t>
            </a:r>
          </a:p>
          <a:p>
            <a:pPr marL="97155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Fastest planning times and optimal paths in static, fully known environments</a:t>
            </a:r>
          </a:p>
          <a:p>
            <a:pPr marL="514350" lvl="1">
              <a:spcAft>
                <a:spcPts val="600"/>
              </a:spcAft>
            </a:pPr>
            <a:endParaRPr lang="en-US" sz="1400" dirty="0">
              <a:latin typeface="Univers Condensed (Body)"/>
            </a:endParaRPr>
          </a:p>
          <a:p>
            <a:pPr marL="40005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>
                <a:latin typeface="Univers Condensed (Body)"/>
              </a:rPr>
              <a:t>D* Lite</a:t>
            </a:r>
          </a:p>
          <a:p>
            <a:pPr marL="85725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Balances preprocessing cost and path optimality via dynamic replanning</a:t>
            </a:r>
          </a:p>
          <a:p>
            <a:pPr marL="85725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Suited to changing or partially known environments</a:t>
            </a:r>
          </a:p>
          <a:p>
            <a:pPr marL="514350" lvl="1">
              <a:spcAft>
                <a:spcPts val="600"/>
              </a:spcAft>
            </a:pPr>
            <a:endParaRPr lang="en-US" sz="1400" dirty="0">
              <a:latin typeface="Univers Condensed (Body)"/>
            </a:endParaRPr>
          </a:p>
          <a:p>
            <a:pPr marL="51435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>
                <a:latin typeface="Univers Condensed (Body)"/>
              </a:rPr>
              <a:t>RRT</a:t>
            </a:r>
          </a:p>
          <a:p>
            <a:pPr marL="85725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Nearly instantaneous graph building and compact trajectories</a:t>
            </a:r>
          </a:p>
          <a:p>
            <a:pPr marL="85725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Univers Condensed (Body)"/>
              </a:rPr>
              <a:t>Small-scale or time-critical tasks tolerating slight suboptimality</a:t>
            </a:r>
          </a:p>
        </p:txBody>
      </p:sp>
    </p:spTree>
    <p:extLst>
      <p:ext uri="{BB962C8B-B14F-4D97-AF65-F5344CB8AC3E}">
        <p14:creationId xmlns:p14="http://schemas.microsoft.com/office/powerpoint/2010/main" val="2745013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9913BB-FE2E-2DB4-08BC-81DF7DFCA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554CBE-48C5-381C-AA51-829467710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13471C9-6F14-7B40-10D9-93CDC34CB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765E9CC-D96E-5691-0CB8-BF834BBF7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Cubes connected with a red line">
            <a:extLst>
              <a:ext uri="{FF2B5EF4-FFF2-40B4-BE49-F238E27FC236}">
                <a16:creationId xmlns:a16="http://schemas.microsoft.com/office/drawing/2014/main" id="{381A5B20-6655-A0ED-9E99-ACA8F8D6A2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35" r="18105" b="-1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637010-B95B-BE91-C8E0-35F2D2505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06984D1-C574-C1C2-3C0C-2015F2F767C0}"/>
              </a:ext>
            </a:extLst>
          </p:cNvPr>
          <p:cNvSpPr txBox="1"/>
          <p:nvPr/>
        </p:nvSpPr>
        <p:spPr>
          <a:xfrm>
            <a:off x="5346871" y="975393"/>
            <a:ext cx="6143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b="1" dirty="0">
                <a:latin typeface="Univers Condensed (Headings)"/>
              </a:rPr>
              <a:t>Future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63F11F-BE56-0C9D-CE0A-B43E10E0D1C2}"/>
              </a:ext>
            </a:extLst>
          </p:cNvPr>
          <p:cNvSpPr txBox="1"/>
          <p:nvPr/>
        </p:nvSpPr>
        <p:spPr>
          <a:xfrm>
            <a:off x="5248656" y="1770369"/>
            <a:ext cx="6647422" cy="45161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Univers Condensed (Body)"/>
              </a:rPr>
              <a:t>Dynamic &amp; Uncertain Environments:</a:t>
            </a:r>
          </a:p>
          <a:p>
            <a:pPr marL="514350" lvl="1">
              <a:spcAft>
                <a:spcPts val="600"/>
              </a:spcAft>
            </a:pPr>
            <a:r>
              <a:rPr lang="en-US" sz="1400" dirty="0">
                <a:latin typeface="Univers Condensed (Body)"/>
              </a:rPr>
              <a:t>Extend benchmarks to moving obstacles and partial maps, stressing D* Lite’s replanning</a:t>
            </a:r>
          </a:p>
          <a:p>
            <a:pPr marL="51435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Univers Condensed (Body)"/>
              </a:rPr>
              <a:t>Real-World Validation:</a:t>
            </a:r>
          </a:p>
          <a:p>
            <a:pPr marL="514350" lvl="1">
              <a:spcAft>
                <a:spcPts val="600"/>
              </a:spcAft>
            </a:pPr>
            <a:r>
              <a:rPr lang="en-US" sz="1400" dirty="0">
                <a:latin typeface="Univers Condensed (Body)"/>
              </a:rPr>
              <a:t>Test on physical robots (E-puck, TurtleBot) to measure sensor noise, actuation errors, communication delays</a:t>
            </a:r>
          </a:p>
          <a:p>
            <a:pPr marL="51435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Univers Condensed (Body)"/>
              </a:rPr>
              <a:t>Hybrid &amp; Learning-Based Methods:</a:t>
            </a:r>
          </a:p>
          <a:p>
            <a:pPr marL="514350" lvl="1">
              <a:spcAft>
                <a:spcPts val="600"/>
              </a:spcAft>
            </a:pPr>
            <a:r>
              <a:rPr lang="en-US" sz="1400" dirty="0">
                <a:latin typeface="Univers Condensed (Body)"/>
              </a:rPr>
              <a:t>Explore PRM–RRT hybrids and ML-driven heuristic/sampling bias tuning</a:t>
            </a:r>
          </a:p>
          <a:p>
            <a:pPr marL="51435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Univers Condensed (Body)"/>
              </a:rPr>
              <a:t>Energy &amp; Resource Metrics:</a:t>
            </a:r>
          </a:p>
          <a:p>
            <a:pPr marL="514350" lvl="1">
              <a:spcAft>
                <a:spcPts val="600"/>
              </a:spcAft>
            </a:pPr>
            <a:r>
              <a:rPr lang="en-US" sz="1400" dirty="0">
                <a:latin typeface="Univers Condensed (Body)"/>
              </a:rPr>
              <a:t>Incorporate power consumption, CPU/memory usage, and robustness for embedded platforms</a:t>
            </a:r>
          </a:p>
          <a:p>
            <a:pPr marL="51435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Univers Condensed (Body)"/>
              </a:rPr>
              <a:t>Multi-Agent Coordination:</a:t>
            </a:r>
          </a:p>
          <a:p>
            <a:pPr marL="514350" lvl="1">
              <a:spcAft>
                <a:spcPts val="600"/>
              </a:spcAft>
            </a:pPr>
            <a:r>
              <a:rPr lang="en-US" sz="1400" dirty="0">
                <a:latin typeface="Univers Condensed (Body)"/>
              </a:rPr>
              <a:t>Investigate cooperative maze navigation: collision avoidance, task allocation, communication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259903350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690</Words>
  <Application>Microsoft Office PowerPoint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Calisto MT</vt:lpstr>
      <vt:lpstr>Univers Condensed</vt:lpstr>
      <vt:lpstr>Univers Condensed (Body)</vt:lpstr>
      <vt:lpstr>Univers Condensed (Headings)</vt:lpstr>
      <vt:lpstr>ChronicleVTI</vt:lpstr>
      <vt:lpstr>Path-Planning Algorithms for Efficient Maze Navigation in Webots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José Guilherme Lourenço Correia Marques dos Santos</dc:creator>
  <cp:lastModifiedBy>José Guilherme Lourenço Correia Marques dos Santos</cp:lastModifiedBy>
  <cp:revision>1</cp:revision>
  <dcterms:created xsi:type="dcterms:W3CDTF">2025-06-12T02:12:56Z</dcterms:created>
  <dcterms:modified xsi:type="dcterms:W3CDTF">2025-06-12T03:09:24Z</dcterms:modified>
</cp:coreProperties>
</file>